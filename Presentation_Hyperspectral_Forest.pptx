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16"/>
  </p:normalViewPr>
  <p:slideViewPr>
    <p:cSldViewPr snapToGrid="0" snapToObjects="1">
      <p:cViewPr varScale="1">
        <p:scale>
          <a:sx n="147" d="100"/>
          <a:sy n="147" d="100"/>
        </p:scale>
        <p:origin x="224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Spectral Separability of Forest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DD7EE"/>
                </a:solidFill>
              </a:rPr>
              <a:t>Across European Biomes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DD7EE"/>
                </a:solidFill>
              </a:rPr>
              <a:t>Airborne Hyperspectral Classification with Leave-One-Site-Out Cross-Validation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520440"/>
            <a:ext cx="39593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</a:rPr>
              <a:t>Manan Aggarwal   |   Multi-disciplinary Hyperspectral Project   | 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120" y="4846320"/>
            <a:ext cx="2194561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512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12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Forest stands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2560" y="4846320"/>
            <a:ext cx="2194561" cy="118872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0256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256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European sites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0" y="4846320"/>
            <a:ext cx="2194561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000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Spectral bands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7440" y="4846320"/>
            <a:ext cx="2194561" cy="118872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7440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7440" y="5559552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Classifiers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6067" y="4846320"/>
            <a:ext cx="1830494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823195" y="4937760"/>
            <a:ext cx="219456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LOSO-CV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4880" y="5527548"/>
            <a:ext cx="2194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BDD7EE"/>
                </a:solidFill>
              </a:rPr>
              <a:t>Spatial blocking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FREEDLES multi-site airborne hyperspectral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12064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71016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F497D"/>
                </a:solidFill>
              </a:rPr>
              <a:t>Research Questions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Can CASI-1500 (382–1052 nm) tell coniferous from broadleaved forest?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Does it work across biomes — not just within a single site?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Does ALS structural data improve classification?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404040"/>
                </a:solidFill>
              </a:rPr>
              <a:t>•  Do findings transfer to field spectroradiometer (350–2500 nm)?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234440"/>
            <a:ext cx="160020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3560" y="1307592"/>
            <a:ext cx="1554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234440"/>
            <a:ext cx="100584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1307592"/>
            <a:ext cx="960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128016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307592"/>
            <a:ext cx="1234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234440"/>
            <a:ext cx="59436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1307592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234440"/>
            <a:ext cx="1737360" cy="47548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7000" y="130759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709928"/>
            <a:ext cx="1600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60" y="1773936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Hyytiälä (HY)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09928"/>
            <a:ext cx="10058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1773936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Finland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709928"/>
            <a:ext cx="12801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773936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Boreal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709928"/>
            <a:ext cx="594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1773936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1280" y="1709928"/>
            <a:ext cx="1737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87000" y="1773936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Pine, Spruce, Birch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185416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2249424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Järvselja (JS)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185416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9480" y="2249424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Estonia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185416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2249424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Hemiboreal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2185416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20" y="2249424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218541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87000" y="2249424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Pine, Spruce, Birch, Alder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660904"/>
            <a:ext cx="16002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2724912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Bílý Kríž (BK)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660904"/>
            <a:ext cx="10058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9480" y="2724912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Czech 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2660904"/>
            <a:ext cx="12801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2724912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Temperate montane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2660904"/>
            <a:ext cx="594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46920" y="2724912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41280" y="2660904"/>
            <a:ext cx="1737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87000" y="272491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Norway Spruce (plantation)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3136392"/>
            <a:ext cx="1600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23560" y="3200400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Lanzhot (LZ)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3136392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69480" y="3200400"/>
            <a:ext cx="941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Czech 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136392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0" y="3200400"/>
            <a:ext cx="1216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Temperate floodpl.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136392"/>
            <a:ext cx="594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46920" y="3200400"/>
            <a:ext cx="530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313639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87000" y="3200400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Oak, Ash, Hornbeam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703320"/>
            <a:ext cx="3474720" cy="3044018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274320" y="3611880"/>
            <a:ext cx="5120640" cy="114300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3657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Evaluation: Leave-One-Site-Out (LOSO) cross-validation
Train on 3 sites → test on the 4th (strict spatial blocking)
Primary metric: Balanced Accuracy (handles class imbalance)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4828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57% coniferous  |  26% broadleaved  |  17% mixed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Classification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From raw GeoTIFF tiles to evaluated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155680" cy="26695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3657600"/>
            <a:ext cx="370332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3785616"/>
            <a:ext cx="3429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Feature Extraction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Stand-level MEAN reflectance per tile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All valid pixels averaged band-wise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Avoids overfitting (n=58 small sample)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3657600"/>
            <a:ext cx="370332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5112" y="3785616"/>
            <a:ext cx="3429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Band Selection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48 CASI bands → 40 valid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Remove 8 water-vapour bands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(895-1003, 1092-1168, 1302-1528, 1737-2038 nm)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657600"/>
            <a:ext cx="370332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3785616"/>
            <a:ext cx="3429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Normalisation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z-score fit on TRAINING fold only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Applied to test fold → no data leakage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Refit fresh in each of 4 LOSO folds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715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</a:rPr>
              <a:t>Critical data fixes discovered during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404040"/>
                </a:solidFill>
              </a:rPr>
              <a:t>nodata=10000 (not 0)  •  scale factor /10000  •  wavelengths from ENVI headers  •  ALS veg code=4 at BK/LZ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Classifier Comparison — 3-class LOSO-CV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58 stands, 4 folds, 3 forest types (coniferous / broadleaved / mixed)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6583680" cy="3315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95160" y="1234440"/>
            <a:ext cx="210312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298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234440"/>
            <a:ext cx="8686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29844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234440"/>
            <a:ext cx="8686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12680" y="129844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35640" y="1234440"/>
            <a:ext cx="86868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0" y="129844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691640"/>
            <a:ext cx="210312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50024" y="17647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Logistic Reg.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6916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3144" y="17647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6916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21824" y="17647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0.698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35640" y="16916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90504" y="17647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0.470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2148840"/>
            <a:ext cx="210312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0024" y="22219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148840"/>
            <a:ext cx="86868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22219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0.621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148840"/>
            <a:ext cx="86868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21824" y="22219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0.756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35640" y="2148840"/>
            <a:ext cx="868680" cy="457200"/>
          </a:xfrm>
          <a:prstGeom prst="rect">
            <a:avLst/>
          </a:prstGeom>
          <a:solidFill>
            <a:srgbClr val="BDD7EE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90504" y="22219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0.576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2606040"/>
            <a:ext cx="210312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0024" y="2679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SVM (RBF)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6060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53144" y="26791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6060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21824" y="26791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0.694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35640" y="26060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90504" y="26791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0.438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3063240"/>
            <a:ext cx="21031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50024" y="3136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Grad. Boosting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3063240"/>
            <a:ext cx="8686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53144" y="31363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0.592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3063240"/>
            <a:ext cx="8686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21824" y="31363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0.706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35640" y="3063240"/>
            <a:ext cx="8686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90504" y="31363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95160" y="3520440"/>
            <a:ext cx="210312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50024" y="3593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PLS-DA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35204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53144" y="35935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0.591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35204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21824" y="35935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35640" y="3520440"/>
            <a:ext cx="868680" cy="4572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90504" y="359359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</a:rPr>
              <a:t>★ Random Forest wins on BA and Macro-F1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4617720"/>
            <a:ext cx="4846320" cy="210312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59752" y="4745736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Broadleaved recall ≈ 0.94 → clear spectral signature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Mixed recall ≈ 0.00 → completely undetected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Site shortcut ratio 1.14× → model uses biology, not site offsets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Per-Site Performance &amp;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Where does the model succeed — and where does it fail?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669280" cy="352429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51560"/>
            <a:ext cx="4114800" cy="3340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754880"/>
            <a:ext cx="5394960" cy="9601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800600"/>
            <a:ext cx="5166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7D32"/>
                </a:solidFill>
              </a:rPr>
              <a:t>Bílý Kríž BA=1.0 → trivial (100% coniferous test set). Remove it: mean BA over HY+JS+LZ = 0.495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754880"/>
            <a:ext cx="5943600" cy="96012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80060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0000"/>
                </a:solidFill>
              </a:rPr>
              <a:t>Mixed class = 0/10 correct. All misclassified as CONIFEROUS. Stand-level mean spectra can't resolve spatial mixtures → needs crown-level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806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Hyytiälä (BA=0.402) is the hardest fold — all 3 classes present, 28 stands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Finding: Binary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Drop the mixed class — conifer vs. broadleaf is biome-stable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120640" cy="34447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52160" y="1371600"/>
            <a:ext cx="2194560" cy="1188720"/>
          </a:xfrm>
          <a:prstGeom prst="rect">
            <a:avLst/>
          </a:prstGeom>
          <a:solidFill>
            <a:srgbClr val="9B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0" y="14630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97D"/>
                </a:solidFill>
              </a:rPr>
              <a:t>0.621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848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497D"/>
                </a:solidFill>
              </a:rPr>
              <a:t>3-class 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5544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371600"/>
            <a:ext cx="219456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14630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0.932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0848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Binary 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974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</a:rPr>
              <a:t>+31.1 percentage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291840"/>
            <a:ext cx="603504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16752" y="3419856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Per-fold gain from going binary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Hyytiälä: 0.402 → 0.852  (+45 pp)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Järvselja: 0.583 → 0.875  (+29 pp)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Lanzhot:   0.500 → 1.000  (+50 pp)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•  Bílý Kríž: 1.000 → 1.000  (±0 pp)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37760"/>
            <a:ext cx="5120640" cy="155448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9834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Interpretation:
The biome-generalisation problem is SOLVED for conifer vs. broadleaf.
The residual 3-class error is entirely the mixed label — not sensor limitations.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Ablation Study — What Helps and What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Systematic isolation of each design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7315200" cy="3451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280160"/>
            <a:ext cx="128016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80" y="13441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Ablation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280160"/>
            <a:ext cx="91440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34416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3-cls 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280160"/>
            <a:ext cx="77724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21240" y="134416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60" y="1280160"/>
            <a:ext cx="2468880" cy="420624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0" y="134416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700784"/>
            <a:ext cx="128016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176479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PCA-10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700784"/>
            <a:ext cx="91440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176479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0.600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700784"/>
            <a:ext cx="77724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1764792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0000"/>
                </a:solidFill>
              </a:rPr>
              <a:t>−0.021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52760" y="1700784"/>
            <a:ext cx="246888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176479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PCA discards biologically relevant low-variance bands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121408"/>
            <a:ext cx="12801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80" y="2185416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ALS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121408"/>
            <a:ext cx="9144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2185416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0.192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21408"/>
            <a:ext cx="7772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21240" y="2185416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0000"/>
                </a:solidFill>
              </a:rPr>
              <a:t>−0.429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2760" y="2121408"/>
            <a:ext cx="2468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0" y="218541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Height/cover not diagnostic across biomes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542032"/>
            <a:ext cx="128016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80" y="2606040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CASI+ALS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542032"/>
            <a:ext cx="91440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06840" y="2606040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0.663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2542032"/>
            <a:ext cx="77724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21240" y="2606040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+0.042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52760" y="2542032"/>
            <a:ext cx="246888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260604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Modest 3-class gain; zero binary gain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962656"/>
            <a:ext cx="128016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6680" y="3026664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04040"/>
                </a:solidFill>
              </a:rPr>
              <a:t>Binary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2962656"/>
            <a:ext cx="91440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06840" y="3026664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04040"/>
                </a:solidFill>
              </a:rPr>
              <a:t>0.932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2962656"/>
            <a:ext cx="77724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21240" y="3026664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+0.311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52760" y="2962656"/>
            <a:ext cx="2468880" cy="420624"/>
          </a:xfrm>
          <a:prstGeom prst="rect">
            <a:avLst/>
          </a:prstGeom>
          <a:solidFill>
            <a:srgbClr val="E2F0D9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98480" y="3026664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Largest gain — mixed class was the bottleneck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383280"/>
            <a:ext cx="128016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26680" y="344728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Field spectra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383280"/>
            <a:ext cx="91440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06840" y="3447288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0.413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383280"/>
            <a:ext cx="77724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21240" y="3447288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0000"/>
                </a:solidFill>
              </a:rPr>
              <a:t>−0.208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52760" y="3383280"/>
            <a:ext cx="2468880" cy="420624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98480" y="344728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BK fold collapses (training imbalance)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3803904"/>
            <a:ext cx="12801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26680" y="3867912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Cross-sensor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3803904"/>
            <a:ext cx="9144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06840" y="3867912"/>
            <a:ext cx="914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0.875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3803904"/>
            <a:ext cx="77724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21240" y="3867912"/>
            <a:ext cx="777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+—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52760" y="3803904"/>
            <a:ext cx="2468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98480" y="386791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7/8 BK stands correct via spectral resampling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BilyKriz Field Spectra &amp; Cross-Sensor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350–2500 nm spectroradiometer + CASI model applied to field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88720"/>
            <a:ext cx="5486400" cy="3135800"/>
          </a:xfrm>
          <a:prstGeom prst="rect">
            <a:avLst/>
          </a:prstGeom>
        </p:spPr>
      </p:pic>
      <p:pic>
        <p:nvPicPr>
          <p:cNvPr id="8" name="Picture 7" descr="field_spectra_sepa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6035040" cy="196544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" y="4663440"/>
            <a:ext cx="11704320" cy="1874519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4791456"/>
            <a:ext cx="11430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F497D"/>
                </a:solidFill>
              </a:rPr>
              <a:t>Key findings — Field Spectroscopy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Field LOSO-CV (31 stands, 3 sites): BA = 0.413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BK fold collapses: 19 broadleaved vs 4 coniferous in training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Top separable region: SWIR-2 (2317–2490 nm) — cellulose/lignin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SWIR not in CASI range yet CASI binary BA = 0.932 → VIS-NIR sufficient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 Cross-sensor BK: 7/8 correct (BA = 0.875), misclassified Spruce3 has 27% broadleaved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Iteration Log — What We Fixed Along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8 non-trivial bugs discovered and resolved during pipeline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nodata = 10000, not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Pixel mask let 10000 DN through; post-scale = 1.0 reflectance corruption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694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Reflectance scale /10000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Raw DN range 0–2350; forgot to divide by 10000 — band importance was raw DN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0390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Wavelengths from ENVI headers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GeoTIFFs have no spectral metadata; water-vapour exclusion silently skipped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8348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98348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038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Stand ID suffix stripping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HY_PINE1_CASI.tif → stand_id=HY_PINE1_CASI; no metadata match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28016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128016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3350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ALS veg code = 4 (not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BK/LZ used cls=4 for medium veg; cls==1 filter gave zero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51460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251460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5694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Single-class fold crash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718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BK fold = only coniferous; sklearn classification_report raised ValueError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749039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80" y="3749039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803903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SVM multi-class solver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06239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liblinear incompatible with balanced multi-class; switched to lbfgs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983480"/>
            <a:ext cx="566928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4983480"/>
            <a:ext cx="201168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5038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</a:rPr>
              <a:t>f-string backslash Python 3.12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406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f'{f["ba"]}' is SyntaxError in 3.12; pre-computed variable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91672" y="0"/>
            <a:ext cx="109728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5120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013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18745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Binary conifer/broadleaf: BA = 0.932
Biome generalisation is SOLVED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157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7889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614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3-class problem: BA = 0.621
Mixed class is entirely undetected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301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" y="37033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6758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ALS gives +4.1 pp for 3-class
Zero benefit for binary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445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46177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5902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SWIR-2 most separable (field data)
But VIS-NIR already sufficient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58968"/>
            <a:ext cx="59436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" y="55321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504688"/>
            <a:ext cx="4800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Cross-sensor transfer: 7/8 BK
BA = 0.875 via spectral resampling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88720"/>
            <a:ext cx="576072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1280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</a:rPr>
              <a:t>What's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7373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1.  Crown-level / patch-level features for mixed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2.  Species-level within coniferous type (Pine vs. Spruce)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3.  Multi-date imagery — phenological separability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832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4.  Probability calibration for operational 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5760720" cy="2560320"/>
          </a:xfrm>
          <a:prstGeom prst="rect">
            <a:avLst/>
          </a:prstGeom>
          <a:solidFill>
            <a:srgbClr val="1A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822191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Numbers at a Glance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3159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3-class Balanced Acc.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3159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8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0.932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Binary Balanced Acc.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43159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0412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CASI + ALS fusion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2303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5266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0.875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650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Cross-sensor BK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52303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83880" y="5266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2317nm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650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Most separable band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5230368"/>
            <a:ext cx="18288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04120" y="52669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7/8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5650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DD7EE"/>
                </a:solidFill>
              </a:rPr>
              <a:t>BK stands correct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1092</Words>
  <Application>Microsoft Macintosh PowerPoint</Application>
  <PresentationFormat>Custom</PresentationFormat>
  <Paragraphs>208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Aggarwal Manan</cp:lastModifiedBy>
  <cp:revision>2</cp:revision>
  <dcterms:created xsi:type="dcterms:W3CDTF">2013-01-27T09:14:16Z</dcterms:created>
  <dcterms:modified xsi:type="dcterms:W3CDTF">2026-06-18T15:50:17Z</dcterms:modified>
  <cp:category/>
</cp:coreProperties>
</file>