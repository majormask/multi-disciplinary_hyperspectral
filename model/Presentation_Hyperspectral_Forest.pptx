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300" y="-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577840"/>
            <a:ext cx="12188952" cy="12801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Spectral Separability of Forest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BDD7EE"/>
                </a:solidFill>
              </a:rPr>
              <a:t>Across European Biomes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889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BDD7EE"/>
                </a:solidFill>
              </a:rPr>
              <a:t>Airborne Hyperspectral Classification with Leave-One-Site-Out Cross-Validation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3520440"/>
            <a:ext cx="3959352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DD7EE"/>
                </a:solidFill>
              </a:rPr>
              <a:t>Manan Aggarwal   |   Multi-disciplinary Hyperspectral Project   |   June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25120" y="4846320"/>
            <a:ext cx="2194561" cy="1188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5120" y="4937760"/>
            <a:ext cx="219456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58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5120" y="5559552"/>
            <a:ext cx="219456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DD7EE"/>
                </a:solidFill>
              </a:rPr>
              <a:t>Forest stands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02560" y="4846320"/>
            <a:ext cx="2194561" cy="1188720"/>
          </a:xfrm>
          <a:prstGeom prst="rect">
            <a:avLst/>
          </a:prstGeom>
          <a:solidFill>
            <a:srgbClr val="1A6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02560" y="4937760"/>
            <a:ext cx="219456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2560" y="5559552"/>
            <a:ext cx="219456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DD7EE"/>
                </a:solidFill>
              </a:rPr>
              <a:t>European sites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0000" y="4846320"/>
            <a:ext cx="2194561" cy="1188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80000" y="4937760"/>
            <a:ext cx="219456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0000" y="5559552"/>
            <a:ext cx="219456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DD7EE"/>
                </a:solidFill>
              </a:rPr>
              <a:t>Spectral bands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7440" y="4846320"/>
            <a:ext cx="2194561" cy="1188720"/>
          </a:xfrm>
          <a:prstGeom prst="rect">
            <a:avLst/>
          </a:prstGeom>
          <a:solidFill>
            <a:srgbClr val="1A6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57440" y="4937760"/>
            <a:ext cx="219456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7440" y="5559552"/>
            <a:ext cx="219456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DD7EE"/>
                </a:solidFill>
              </a:rPr>
              <a:t>Classifiers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16067" y="4846320"/>
            <a:ext cx="1830494" cy="1188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9823195" y="4937760"/>
            <a:ext cx="219456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rgbClr val="FFFFFF"/>
                </a:solidFill>
              </a:rPr>
              <a:t>LOSO-CV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34880" y="5527548"/>
            <a:ext cx="219456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BDD7EE"/>
                </a:solidFill>
              </a:rPr>
              <a:t>Spatial blocking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 &amp;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FREEDLES multi-site airborne hyperspectral survey</a:t>
            </a:r>
          </a:p>
        </p:txBody>
      </p:sp>
      <p:sp>
        <p:nvSpPr>
          <p:cNvPr id="5" name="Rectangle 4"/>
          <p:cNvSpPr/>
          <p:nvPr/>
        </p:nvSpPr>
        <p:spPr>
          <a:xfrm>
            <a:off x="11091672" y="0"/>
            <a:ext cx="1097280" cy="10515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83112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120640" cy="23774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271016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1F497D"/>
                </a:solidFill>
              </a:rPr>
              <a:t>Research Questions</a:t>
            </a:r>
          </a:p>
          <a:p>
            <a:pPr algn="l">
              <a:spcBef>
                <a:spcPts val="400"/>
              </a:spcBef>
            </a:pPr>
            <a:r>
              <a:rPr sz="1350">
                <a:solidFill>
                  <a:srgbClr val="404040"/>
                </a:solidFill>
              </a:rPr>
              <a:t>•  Can CASI-1500 (382–1052 nm) tell coniferous from broadleaved forest?</a:t>
            </a:r>
          </a:p>
          <a:p>
            <a:pPr algn="l">
              <a:spcBef>
                <a:spcPts val="400"/>
              </a:spcBef>
            </a:pPr>
            <a:r>
              <a:rPr sz="1350">
                <a:solidFill>
                  <a:srgbClr val="404040"/>
                </a:solidFill>
              </a:rPr>
              <a:t>•  Does it work across biomes — not just within a single site?</a:t>
            </a:r>
          </a:p>
          <a:p>
            <a:pPr algn="l">
              <a:spcBef>
                <a:spcPts val="400"/>
              </a:spcBef>
            </a:pPr>
            <a:r>
              <a:rPr sz="1350">
                <a:solidFill>
                  <a:srgbClr val="404040"/>
                </a:solidFill>
              </a:rPr>
              <a:t>•  Does ALS structural data improve classification?</a:t>
            </a:r>
          </a:p>
          <a:p>
            <a:pPr algn="l">
              <a:spcBef>
                <a:spcPts val="400"/>
              </a:spcBef>
            </a:pPr>
            <a:r>
              <a:rPr sz="1350">
                <a:solidFill>
                  <a:srgbClr val="404040"/>
                </a:solidFill>
              </a:rPr>
              <a:t>•  Do findings transfer to field spectroradiometer (350–2500 nm)?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7840" y="1234440"/>
            <a:ext cx="1600200" cy="47548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23560" y="1307592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Site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1234440"/>
            <a:ext cx="1005840" cy="47548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69480" y="1307592"/>
            <a:ext cx="960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Country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20" y="1234440"/>
            <a:ext cx="1280160" cy="47548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1307592"/>
            <a:ext cx="1234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Biome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0" y="1234440"/>
            <a:ext cx="594360" cy="47548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46920" y="1307592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0" y="1234440"/>
            <a:ext cx="1737360" cy="47548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287000" y="1307592"/>
            <a:ext cx="1691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Species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77840" y="1709928"/>
            <a:ext cx="160020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23560" y="1773936"/>
            <a:ext cx="15361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Hyytiälä (HY)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60" y="1709928"/>
            <a:ext cx="100584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69480" y="1773936"/>
            <a:ext cx="9418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Finland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20" y="1709928"/>
            <a:ext cx="128016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21040" y="1773936"/>
            <a:ext cx="12161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Boreal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0" y="1709928"/>
            <a:ext cx="59436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46920" y="1773936"/>
            <a:ext cx="530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1280" y="1709928"/>
            <a:ext cx="173736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87000" y="1773936"/>
            <a:ext cx="1673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Pine, Spruce, Birch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77840" y="2185416"/>
            <a:ext cx="1600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23560" y="2249424"/>
            <a:ext cx="15361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Järvselja (JS)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60" y="2185416"/>
            <a:ext cx="10058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69480" y="2249424"/>
            <a:ext cx="9418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Estonia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75320" y="2185416"/>
            <a:ext cx="12801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21040" y="2249424"/>
            <a:ext cx="12161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Hemiboreal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0" y="2185416"/>
            <a:ext cx="594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646920" y="2249424"/>
            <a:ext cx="530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13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241280" y="2185416"/>
            <a:ext cx="1737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287000" y="2249424"/>
            <a:ext cx="1673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Pine, Spruce, Birch, Alder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77840" y="2660904"/>
            <a:ext cx="160020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623560" y="2724912"/>
            <a:ext cx="15361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Bílý Kríž (BK)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60" y="2660904"/>
            <a:ext cx="100584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269480" y="2724912"/>
            <a:ext cx="9418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Czech R.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75320" y="2660904"/>
            <a:ext cx="128016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21040" y="2724912"/>
            <a:ext cx="12161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Temperate montane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01200" y="2660904"/>
            <a:ext cx="59436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646920" y="2724912"/>
            <a:ext cx="530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241280" y="2660904"/>
            <a:ext cx="173736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287000" y="2724912"/>
            <a:ext cx="1673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Norway Spruce (plantation)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77840" y="3136392"/>
            <a:ext cx="1600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623560" y="3200400"/>
            <a:ext cx="15361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Lanzhot (LZ)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223760" y="3136392"/>
            <a:ext cx="10058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269480" y="3200400"/>
            <a:ext cx="9418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Czech R.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75320" y="3136392"/>
            <a:ext cx="12801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321040" y="3200400"/>
            <a:ext cx="12161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Temperate floodpl.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01200" y="3136392"/>
            <a:ext cx="594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46920" y="3200400"/>
            <a:ext cx="530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10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241280" y="3136392"/>
            <a:ext cx="1737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287000" y="3200400"/>
            <a:ext cx="1673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Oak, Ash, Hornbeam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3703320"/>
            <a:ext cx="3474720" cy="3044018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274320" y="3611880"/>
            <a:ext cx="5120640" cy="1143000"/>
          </a:xfrm>
          <a:prstGeom prst="rect">
            <a:avLst/>
          </a:prstGeom>
          <a:solidFill>
            <a:srgbClr val="1A6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57200" y="3657600"/>
            <a:ext cx="4846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Evaluation: Leave-One-Site-Out (LOSO) cross-validation
Train on 3 sites → test on the 4th (strict spatial blocking)
Primary metric: Balanced Accuracy (handles class imbalance)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4320" y="482803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04040"/>
                </a:solidFill>
              </a:rPr>
              <a:t>57% coniferous  |  26% broadleaved  |  17% mixed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Classification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From raw GeoTIFF tiles to evaluated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091672" y="0"/>
            <a:ext cx="1097280" cy="10515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83112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155680" cy="266959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3657600"/>
            <a:ext cx="3703320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" y="3785616"/>
            <a:ext cx="34290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F497D"/>
                </a:solidFill>
              </a:rPr>
              <a:t>Feature Extraction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404040"/>
                </a:solidFill>
              </a:rPr>
              <a:t>•  Stand-level MEAN reflectance per tile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404040"/>
                </a:solidFill>
              </a:rPr>
              <a:t>•  All valid pixels averaged band-wise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404040"/>
                </a:solidFill>
              </a:rPr>
              <a:t>•  Avoids overfitting (n=58 small sample)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3657600"/>
            <a:ext cx="3703320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25112" y="3785616"/>
            <a:ext cx="34290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F497D"/>
                </a:solidFill>
              </a:rPr>
              <a:t>Band Selection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404040"/>
                </a:solidFill>
              </a:rPr>
              <a:t>•  48 CASI bands → 40 valid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404040"/>
                </a:solidFill>
              </a:rPr>
              <a:t>•  Remove 8 water-vapour bands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404040"/>
                </a:solidFill>
              </a:rPr>
              <a:t>•  (895-1003, 1092-1168, 1302-1528, 1737-2038 nm)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3657600"/>
            <a:ext cx="3703320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11312" y="3785616"/>
            <a:ext cx="34290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F497D"/>
                </a:solidFill>
              </a:rPr>
              <a:t>Normalisation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404040"/>
                </a:solidFill>
              </a:rPr>
              <a:t>•  z-score fit on TRAINING fold only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404040"/>
                </a:solidFill>
              </a:rPr>
              <a:t>•  Applied to test fold → no data leakage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404040"/>
                </a:solidFill>
              </a:rPr>
              <a:t>•  Refit fresh in each of 4 LOSO folds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5715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</a:rPr>
              <a:t>Critical data fixes discovered during development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0350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404040"/>
                </a:solidFill>
              </a:rPr>
              <a:t>nodata=10000 (not 0)  •  scale factor /10000  •  wavelengths from ENVI headers  •  ALS veg code=4 at BK/LZ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Classifier Comparison — 3-class LOSO-CV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58 stands, 4 folds, 3 forest types (coniferous / broadleaved / mixed)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11091672" y="0"/>
            <a:ext cx="1097280" cy="10515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83112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88720"/>
            <a:ext cx="6583680" cy="33150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995160" y="1234440"/>
            <a:ext cx="2103120" cy="4572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0" y="129844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98280" y="1234440"/>
            <a:ext cx="868680" cy="4572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0" y="1298448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0" y="1234440"/>
            <a:ext cx="868680" cy="4572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12680" y="1298448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835640" y="1234440"/>
            <a:ext cx="868680" cy="4572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881360" y="1298448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1691640"/>
            <a:ext cx="2103120" cy="457200"/>
          </a:xfrm>
          <a:prstGeom prst="rect">
            <a:avLst/>
          </a:prstGeom>
          <a:solidFill>
            <a:srgbClr val="F2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50024" y="176479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Logistic Reg.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1691640"/>
            <a:ext cx="868680" cy="457200"/>
          </a:xfrm>
          <a:prstGeom prst="rect">
            <a:avLst/>
          </a:prstGeom>
          <a:solidFill>
            <a:srgbClr val="F2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53144" y="1764792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0.542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60" y="1691640"/>
            <a:ext cx="868680" cy="457200"/>
          </a:xfrm>
          <a:prstGeom prst="rect">
            <a:avLst/>
          </a:prstGeom>
          <a:solidFill>
            <a:srgbClr val="F2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21824" y="1764792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0.698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835640" y="1691640"/>
            <a:ext cx="868680" cy="457200"/>
          </a:xfrm>
          <a:prstGeom prst="rect">
            <a:avLst/>
          </a:prstGeom>
          <a:solidFill>
            <a:srgbClr val="F2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890504" y="1764792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0.470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95160" y="2148840"/>
            <a:ext cx="2103120" cy="457200"/>
          </a:xfrm>
          <a:prstGeom prst="rect">
            <a:avLst/>
          </a:prstGeom>
          <a:solidFill>
            <a:srgbClr val="BDD7EE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50024" y="222199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Random Forest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98280" y="2148840"/>
            <a:ext cx="868680" cy="457200"/>
          </a:xfrm>
          <a:prstGeom prst="rect">
            <a:avLst/>
          </a:prstGeom>
          <a:solidFill>
            <a:srgbClr val="BDD7EE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53144" y="2221992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</a:rPr>
              <a:t>0.621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66960" y="2148840"/>
            <a:ext cx="868680" cy="457200"/>
          </a:xfrm>
          <a:prstGeom prst="rect">
            <a:avLst/>
          </a:prstGeom>
          <a:solidFill>
            <a:srgbClr val="BDD7EE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21824" y="2221992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</a:rPr>
              <a:t>0.756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835640" y="2148840"/>
            <a:ext cx="868680" cy="457200"/>
          </a:xfrm>
          <a:prstGeom prst="rect">
            <a:avLst/>
          </a:prstGeom>
          <a:solidFill>
            <a:srgbClr val="BDD7EE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890504" y="2221992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</a:rPr>
              <a:t>0.576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95160" y="2606040"/>
            <a:ext cx="2103120" cy="457200"/>
          </a:xfrm>
          <a:prstGeom prst="rect">
            <a:avLst/>
          </a:prstGeom>
          <a:solidFill>
            <a:srgbClr val="F2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050024" y="267919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SVM (RBF)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98280" y="2606040"/>
            <a:ext cx="868680" cy="457200"/>
          </a:xfrm>
          <a:prstGeom prst="rect">
            <a:avLst/>
          </a:prstGeom>
          <a:solidFill>
            <a:srgbClr val="F2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53144" y="2679192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0.592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966960" y="2606040"/>
            <a:ext cx="868680" cy="457200"/>
          </a:xfrm>
          <a:prstGeom prst="rect">
            <a:avLst/>
          </a:prstGeom>
          <a:solidFill>
            <a:srgbClr val="F2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021824" y="2679192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0.694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835640" y="2606040"/>
            <a:ext cx="868680" cy="457200"/>
          </a:xfrm>
          <a:prstGeom prst="rect">
            <a:avLst/>
          </a:prstGeom>
          <a:solidFill>
            <a:srgbClr val="F2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890504" y="2679192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0.438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95160" y="3063240"/>
            <a:ext cx="210312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050024" y="313639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Grad. Boosting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98280" y="3063240"/>
            <a:ext cx="86868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53144" y="3136392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0.592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966960" y="3063240"/>
            <a:ext cx="86868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021824" y="3136392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0.706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835640" y="3063240"/>
            <a:ext cx="86868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890504" y="3136392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0.555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95160" y="3520440"/>
            <a:ext cx="2103120" cy="457200"/>
          </a:xfrm>
          <a:prstGeom prst="rect">
            <a:avLst/>
          </a:prstGeom>
          <a:solidFill>
            <a:srgbClr val="F2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050024" y="359359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PLS-DA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98280" y="3520440"/>
            <a:ext cx="868680" cy="457200"/>
          </a:xfrm>
          <a:prstGeom prst="rect">
            <a:avLst/>
          </a:prstGeom>
          <a:solidFill>
            <a:srgbClr val="F2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53144" y="3593592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0.591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966960" y="3520440"/>
            <a:ext cx="868680" cy="457200"/>
          </a:xfrm>
          <a:prstGeom prst="rect">
            <a:avLst/>
          </a:prstGeom>
          <a:solidFill>
            <a:srgbClr val="F2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021824" y="3593592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835640" y="3520440"/>
            <a:ext cx="868680" cy="457200"/>
          </a:xfrm>
          <a:prstGeom prst="rect">
            <a:avLst/>
          </a:prstGeom>
          <a:solidFill>
            <a:srgbClr val="F2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890504" y="3593592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95160" y="41605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F497D"/>
                </a:solidFill>
              </a:rPr>
              <a:t>★ Random Forest wins on BA and Macro-F1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95160" y="4617720"/>
            <a:ext cx="4846320" cy="210312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159752" y="4745736"/>
            <a:ext cx="4572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50">
                <a:solidFill>
                  <a:srgbClr val="404040"/>
                </a:solidFill>
              </a:rPr>
              <a:t>•  Broadleaved recall ≈ 0.94 → clear spectral signature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404040"/>
                </a:solidFill>
              </a:rPr>
              <a:t>•  Mixed recall ≈ 0.00 → completely undetected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404040"/>
                </a:solidFill>
              </a:rPr>
              <a:t>•  Site shortcut ratio 1.14× → model uses biology, not site offsets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Per-Site Performance &amp; Error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Where does the model succeed — and where does it fail?</a:t>
            </a:r>
          </a:p>
        </p:txBody>
      </p:sp>
      <p:sp>
        <p:nvSpPr>
          <p:cNvPr id="5" name="Rectangle 4"/>
          <p:cNvSpPr/>
          <p:nvPr/>
        </p:nvSpPr>
        <p:spPr>
          <a:xfrm>
            <a:off x="11091672" y="0"/>
            <a:ext cx="1097280" cy="10515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83112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43000"/>
            <a:ext cx="5669280" cy="3524299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051560"/>
            <a:ext cx="4114800" cy="334089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74320" y="4754880"/>
            <a:ext cx="5394960" cy="960120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4800600"/>
            <a:ext cx="5166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E7D32"/>
                </a:solidFill>
              </a:rPr>
              <a:t>Bílý Kríž BA=1.0 → trivial (100% coniferous test set). Remove it: mean BA over HY+JS+LZ = 0.495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4754880"/>
            <a:ext cx="5943600" cy="960120"/>
          </a:xfrm>
          <a:prstGeom prst="rect">
            <a:avLst/>
          </a:prstGeom>
          <a:solidFill>
            <a:srgbClr val="FF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80760" y="4800600"/>
            <a:ext cx="5669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00000"/>
                </a:solidFill>
              </a:rPr>
              <a:t>Mixed class = 0/10 correct. All misclassified as CONIFEROUS. Stand-level mean spectra can't resolve spatial mixtures → needs crown-level analysis.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58064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04040"/>
                </a:solidFill>
              </a:rPr>
              <a:t>Hyytiälä (BA=0.402) is the hardest fold — all 3 classes present, 28 stands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Finding: Binary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Drop the mixed class — conifer vs. broadleaf is biome-stable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091672" y="0"/>
            <a:ext cx="1097280" cy="10515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83112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120640" cy="344479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852160" y="1371600"/>
            <a:ext cx="2194560" cy="1188720"/>
          </a:xfrm>
          <a:prstGeom prst="rect">
            <a:avLst/>
          </a:prstGeom>
          <a:solidFill>
            <a:srgbClr val="9B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52160" y="146304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497D"/>
                </a:solidFill>
              </a:rPr>
              <a:t>0.621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208483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F497D"/>
                </a:solidFill>
              </a:rPr>
              <a:t>3-class BA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1554480"/>
            <a:ext cx="640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ED7D31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15400" y="1371600"/>
            <a:ext cx="2194560" cy="1188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15400" y="146304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0.932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08483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DD7EE"/>
                </a:solidFill>
              </a:rPr>
              <a:t>Binary BA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697480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D7D31"/>
                </a:solidFill>
              </a:rPr>
              <a:t>+31.1 percentage points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0" y="3291840"/>
            <a:ext cx="6035040" cy="2011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16752" y="3419856"/>
            <a:ext cx="5760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97D"/>
                </a:solidFill>
              </a:rPr>
              <a:t>Per-fold gain from going binary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Hyytiälä: 0.402 → 0.852  (+45 pp)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Järvselja: 0.583 → 0.875  (+29 pp)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Lanzhot:   0.500 → 1.000  (+50 pp)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Bílý Kríž: 1.000 → 1.000  (±0 pp)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937760"/>
            <a:ext cx="5120640" cy="1554480"/>
          </a:xfrm>
          <a:prstGeom prst="rect">
            <a:avLst/>
          </a:prstGeom>
          <a:solidFill>
            <a:srgbClr val="1A6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498348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Interpretation:
The biome-generalisation problem is SOLVED for conifer vs. broadleaf.
The residual 3-class error is entirely the mixed label — not sensor limitations.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Ablation Study — What Helps and What Doesn't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Systematic isolation of each design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091672" y="0"/>
            <a:ext cx="1097280" cy="10515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83112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7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43000"/>
            <a:ext cx="7315200" cy="345157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680960" y="1280160"/>
            <a:ext cx="1280160" cy="420624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26680" y="1344168"/>
            <a:ext cx="1280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Ablation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0" y="1280160"/>
            <a:ext cx="914400" cy="420624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06840" y="1344168"/>
            <a:ext cx="914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3-cls BA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75520" y="1280160"/>
            <a:ext cx="777240" cy="420624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21240" y="134416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652760" y="1280160"/>
            <a:ext cx="2468880" cy="420624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698480" y="1344168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Interpretation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60" y="1700784"/>
            <a:ext cx="1280160" cy="420624"/>
          </a:xfrm>
          <a:prstGeom prst="rect">
            <a:avLst/>
          </a:prstGeom>
          <a:solidFill>
            <a:srgbClr val="F2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26680" y="1764792"/>
            <a:ext cx="1280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PCA-10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1700784"/>
            <a:ext cx="914400" cy="420624"/>
          </a:xfrm>
          <a:prstGeom prst="rect">
            <a:avLst/>
          </a:prstGeom>
          <a:solidFill>
            <a:srgbClr val="F2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06840" y="1764792"/>
            <a:ext cx="914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0.600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75520" y="1700784"/>
            <a:ext cx="777240" cy="420624"/>
          </a:xfrm>
          <a:prstGeom prst="rect">
            <a:avLst/>
          </a:prstGeom>
          <a:solidFill>
            <a:srgbClr val="F2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921240" y="1764792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0000"/>
                </a:solidFill>
              </a:rPr>
              <a:t>−0.021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52760" y="1700784"/>
            <a:ext cx="2468880" cy="420624"/>
          </a:xfrm>
          <a:prstGeom prst="rect">
            <a:avLst/>
          </a:prstGeom>
          <a:solidFill>
            <a:srgbClr val="F2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0" y="1764792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PCA discards biologically relevant low-variance bands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80960" y="2121408"/>
            <a:ext cx="128016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26680" y="2185416"/>
            <a:ext cx="1280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ALS only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61120" y="2121408"/>
            <a:ext cx="91440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06840" y="2185416"/>
            <a:ext cx="914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0.192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75520" y="2121408"/>
            <a:ext cx="77724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921240" y="2185416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0000"/>
                </a:solidFill>
              </a:rPr>
              <a:t>−0.429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652760" y="2121408"/>
            <a:ext cx="246888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698480" y="2185416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Height/cover not diagnostic across biomes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80960" y="2542032"/>
            <a:ext cx="1280160" cy="420624"/>
          </a:xfrm>
          <a:prstGeom prst="rect">
            <a:avLst/>
          </a:prstGeom>
          <a:solidFill>
            <a:srgbClr val="F2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26680" y="2606040"/>
            <a:ext cx="1280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CASI+ALS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61120" y="2542032"/>
            <a:ext cx="914400" cy="420624"/>
          </a:xfrm>
          <a:prstGeom prst="rect">
            <a:avLst/>
          </a:prstGeom>
          <a:solidFill>
            <a:srgbClr val="F2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006840" y="2606040"/>
            <a:ext cx="914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0.663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875520" y="2542032"/>
            <a:ext cx="777240" cy="420624"/>
          </a:xfrm>
          <a:prstGeom prst="rect">
            <a:avLst/>
          </a:prstGeom>
          <a:solidFill>
            <a:srgbClr val="F2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921240" y="2606040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7D32"/>
                </a:solidFill>
              </a:rPr>
              <a:t>+0.042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652760" y="2542032"/>
            <a:ext cx="2468880" cy="420624"/>
          </a:xfrm>
          <a:prstGeom prst="rect">
            <a:avLst/>
          </a:prstGeom>
          <a:solidFill>
            <a:srgbClr val="F2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698480" y="2606040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Modest 3-class gain; zero binary gain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80960" y="2962656"/>
            <a:ext cx="1280160" cy="420624"/>
          </a:xfrm>
          <a:prstGeom prst="rect">
            <a:avLst/>
          </a:prstGeom>
          <a:solidFill>
            <a:srgbClr val="E2F0D9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26680" y="3026664"/>
            <a:ext cx="1280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04040"/>
                </a:solidFill>
              </a:rPr>
              <a:t>Binary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61120" y="2962656"/>
            <a:ext cx="914400" cy="420624"/>
          </a:xfrm>
          <a:prstGeom prst="rect">
            <a:avLst/>
          </a:prstGeom>
          <a:solidFill>
            <a:srgbClr val="E2F0D9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006840" y="3026664"/>
            <a:ext cx="914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04040"/>
                </a:solidFill>
              </a:rPr>
              <a:t>0.932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875520" y="2962656"/>
            <a:ext cx="777240" cy="420624"/>
          </a:xfrm>
          <a:prstGeom prst="rect">
            <a:avLst/>
          </a:prstGeom>
          <a:solidFill>
            <a:srgbClr val="E2F0D9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921240" y="3026664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7D32"/>
                </a:solidFill>
              </a:rPr>
              <a:t>+0.311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652760" y="2962656"/>
            <a:ext cx="2468880" cy="420624"/>
          </a:xfrm>
          <a:prstGeom prst="rect">
            <a:avLst/>
          </a:prstGeom>
          <a:solidFill>
            <a:srgbClr val="E2F0D9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698480" y="3026664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Largest gain — mixed class was the bottleneck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80960" y="3383280"/>
            <a:ext cx="1280160" cy="420624"/>
          </a:xfrm>
          <a:prstGeom prst="rect">
            <a:avLst/>
          </a:prstGeom>
          <a:solidFill>
            <a:srgbClr val="F2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726680" y="3447288"/>
            <a:ext cx="1280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Field spectra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61120" y="3383280"/>
            <a:ext cx="914400" cy="420624"/>
          </a:xfrm>
          <a:prstGeom prst="rect">
            <a:avLst/>
          </a:prstGeom>
          <a:solidFill>
            <a:srgbClr val="F2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006840" y="3447288"/>
            <a:ext cx="914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0.413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875520" y="3383280"/>
            <a:ext cx="777240" cy="420624"/>
          </a:xfrm>
          <a:prstGeom prst="rect">
            <a:avLst/>
          </a:prstGeom>
          <a:solidFill>
            <a:srgbClr val="F2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921240" y="344728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0000"/>
                </a:solidFill>
              </a:rPr>
              <a:t>−0.208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652760" y="3383280"/>
            <a:ext cx="2468880" cy="420624"/>
          </a:xfrm>
          <a:prstGeom prst="rect">
            <a:avLst/>
          </a:prstGeom>
          <a:solidFill>
            <a:srgbClr val="F2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698480" y="3447288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BK fold collapses (training imbalance)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680960" y="3803904"/>
            <a:ext cx="128016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726680" y="3867912"/>
            <a:ext cx="1280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Cross-sensor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961120" y="3803904"/>
            <a:ext cx="91440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006840" y="3867912"/>
            <a:ext cx="914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0.875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875520" y="3803904"/>
            <a:ext cx="77724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921240" y="3867912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7D32"/>
                </a:solidFill>
              </a:rPr>
              <a:t>+—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652760" y="3803904"/>
            <a:ext cx="246888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698480" y="3867912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7/8 BK stands correct via spectral resampling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BilyKriz Field Spectra &amp; Cross-Sensor 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350–2500 nm spectroradiometer + CASI model applied to field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11091672" y="0"/>
            <a:ext cx="1097280" cy="10515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83112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8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88720"/>
            <a:ext cx="5486400" cy="3135800"/>
          </a:xfrm>
          <a:prstGeom prst="rect">
            <a:avLst/>
          </a:prstGeom>
        </p:spPr>
      </p:pic>
      <p:pic>
        <p:nvPicPr>
          <p:cNvPr id="8" name="Picture 7" descr="field_spectra_separa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188720"/>
            <a:ext cx="6035040" cy="196544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28600" y="4663440"/>
            <a:ext cx="11704320" cy="1874519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3192" y="4791456"/>
            <a:ext cx="1143000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F497D"/>
                </a:solidFill>
              </a:rPr>
              <a:t>Key findings — Field Spectroscopy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404040"/>
                </a:solidFill>
              </a:rPr>
              <a:t>•  Field LOSO-CV (31 stands, 3 sites): BA = 0.413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404040"/>
                </a:solidFill>
              </a:rPr>
              <a:t>•  BK fold collapses: 19 broadleaved vs 4 coniferous in training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404040"/>
                </a:solidFill>
              </a:rPr>
              <a:t>•  Top separable region: SWIR-2 (2317–2490 nm) — cellulose/lignin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404040"/>
                </a:solidFill>
              </a:rPr>
              <a:t>•  SWIR not in CASI range yet CASI binary BA = 0.932 → VIS-NIR sufficient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404040"/>
                </a:solidFill>
              </a:rPr>
              <a:t>•  Cross-sensor BK: 7/8 correct (BA = 0.875), misclassified Spruce3 has 27% broadleaved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Iteration Log — What We Fixed Along the 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8 non-trivial bugs discovered and resolved during pipeline development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1091672" y="0"/>
            <a:ext cx="1097280" cy="10515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83112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5669280" cy="1097280"/>
          </a:xfrm>
          <a:prstGeom prst="rect">
            <a:avLst/>
          </a:prstGeom>
          <a:solidFill>
            <a:srgbClr val="F2F2F2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280160"/>
            <a:ext cx="201168" cy="10972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33502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97D"/>
                </a:solidFill>
              </a:rPr>
              <a:t>nodata = 10000, not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Pixel mask let 10000 DN through; post-scale = 1.0 reflectance corruption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514600"/>
            <a:ext cx="5669280" cy="1097280"/>
          </a:xfrm>
          <a:prstGeom prst="rect">
            <a:avLst/>
          </a:prstGeom>
          <a:solidFill>
            <a:srgbClr val="F2F2F2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2514600"/>
            <a:ext cx="201168" cy="10972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56946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97D"/>
                </a:solidFill>
              </a:rPr>
              <a:t>Reflectance scale /10000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971800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Raw DN range 0–2350; forgot to divide by 10000 — band importance was raw DN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749039"/>
            <a:ext cx="5669280" cy="1097280"/>
          </a:xfrm>
          <a:prstGeom prst="rect">
            <a:avLst/>
          </a:prstGeom>
          <a:solidFill>
            <a:srgbClr val="F2F2F2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" y="3749039"/>
            <a:ext cx="201168" cy="10972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803903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97D"/>
                </a:solidFill>
              </a:rPr>
              <a:t>Wavelengths from ENVI headers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06239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GeoTIFFs have no spectral metadata; water-vapour exclusion silently skipped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983480"/>
            <a:ext cx="5669280" cy="1097280"/>
          </a:xfrm>
          <a:prstGeom prst="rect">
            <a:avLst/>
          </a:prstGeom>
          <a:solidFill>
            <a:srgbClr val="F2F2F2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4320" y="4983480"/>
            <a:ext cx="201168" cy="10972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503834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97D"/>
                </a:solidFill>
              </a:rPr>
              <a:t>Stand ID suffix stripping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440680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HY_PINE1_CASI.tif → stand_id=HY_PINE1_CASI; no metadata match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1280160"/>
            <a:ext cx="5669280" cy="1097280"/>
          </a:xfrm>
          <a:prstGeom prst="rect">
            <a:avLst/>
          </a:prstGeom>
          <a:solidFill>
            <a:srgbClr val="F2F2F2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26480" y="1280160"/>
            <a:ext cx="201168" cy="10972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133502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97D"/>
                </a:solidFill>
              </a:rPr>
              <a:t>ALS veg code = 4 (not 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737360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BK/LZ used cls=4 for medium veg; cls==1 filter gave zero points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2514600"/>
            <a:ext cx="5669280" cy="1097280"/>
          </a:xfrm>
          <a:prstGeom prst="rect">
            <a:avLst/>
          </a:prstGeom>
          <a:solidFill>
            <a:srgbClr val="F2F2F2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26480" y="2514600"/>
            <a:ext cx="201168" cy="10972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0" y="256946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97D"/>
                </a:solidFill>
              </a:rPr>
              <a:t>Single-class fold crash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971800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BK fold = only coniferous; sklearn classification_report raised ValueError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3749039"/>
            <a:ext cx="5669280" cy="1097280"/>
          </a:xfrm>
          <a:prstGeom prst="rect">
            <a:avLst/>
          </a:prstGeom>
          <a:solidFill>
            <a:srgbClr val="F2F2F2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126480" y="3749039"/>
            <a:ext cx="201168" cy="10972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0" y="3803903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97D"/>
                </a:solidFill>
              </a:rPr>
              <a:t>SVM multi-class solver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206239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liblinear incompatible with balanced multi-class; switched to lbfgs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4983480"/>
            <a:ext cx="5669280" cy="1097280"/>
          </a:xfrm>
          <a:prstGeom prst="rect">
            <a:avLst/>
          </a:prstGeom>
          <a:solidFill>
            <a:srgbClr val="F2F2F2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126480" y="4983480"/>
            <a:ext cx="201168" cy="10972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0" y="503834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97D"/>
                </a:solidFill>
              </a:rPr>
              <a:t>f-string backslash Python 3.12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440680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f'{f["ba"]}' is SyntaxError in 3.12; pre-computed variable needed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Conclusions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091672" y="0"/>
            <a:ext cx="1097280" cy="10515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83112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669280" cy="51206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Conclusions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01368"/>
            <a:ext cx="594360" cy="7772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8328" y="1874520"/>
            <a:ext cx="548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1847088"/>
            <a:ext cx="4800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Binary conifer/broadleaf: BA = 0.932
Biome generalisation is SOLVED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715768"/>
            <a:ext cx="594360" cy="7772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" y="2788920"/>
            <a:ext cx="548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761488"/>
            <a:ext cx="4800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3-class problem: BA = 0.621
Mixed class is entirely undetected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630168"/>
            <a:ext cx="594360" cy="7772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8328" y="3703320"/>
            <a:ext cx="548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3675888"/>
            <a:ext cx="4800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ALS gives +4.1 pp for 3-class
Zero benefit for binary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544568"/>
            <a:ext cx="594360" cy="7772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8328" y="4617720"/>
            <a:ext cx="548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4590288"/>
            <a:ext cx="4800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SWIR-2 most separable (field data)
But VIS-NIR already sufficient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458968"/>
            <a:ext cx="594360" cy="7772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8328" y="5532120"/>
            <a:ext cx="548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5504688"/>
            <a:ext cx="4800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Cross-sensor transfer: 7/8 BK
BA = 0.875 via spectral resampling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1188720"/>
            <a:ext cx="5760720" cy="2423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09360" y="128016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97D"/>
                </a:solidFill>
              </a:rPr>
              <a:t>What's Next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173736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04040"/>
                </a:solidFill>
              </a:rPr>
              <a:t>1.  Crown-level / patch-level features for mixed class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28600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04040"/>
                </a:solidFill>
              </a:rPr>
              <a:t>2.  Species-level within coniferous type (Pine vs. Spruce)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834639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04040"/>
                </a:solidFill>
              </a:rPr>
              <a:t>3.  Multi-date imagery — phenological separability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383279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04040"/>
                </a:solidFill>
              </a:rPr>
              <a:t>4.  Probability calibration for operational deployment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3749039"/>
            <a:ext cx="5760720" cy="2560320"/>
          </a:xfrm>
          <a:prstGeom prst="rect">
            <a:avLst/>
          </a:prstGeom>
          <a:solidFill>
            <a:srgbClr val="1A6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9360" y="3822191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Key Numbers at a Glance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4315968"/>
            <a:ext cx="1828800" cy="7772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63640" y="435254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0.621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473659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DD7EE"/>
                </a:solidFill>
              </a:rPr>
              <a:t>3-class Balanced Acc.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83880" y="4315968"/>
            <a:ext cx="1828800" cy="7772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83880" y="435254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0.932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80" y="473659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DD7EE"/>
                </a:solidFill>
              </a:rPr>
              <a:t>Binary Balanced Acc.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104120" y="4315968"/>
            <a:ext cx="1828800" cy="7772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104120" y="435254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0.663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04120" y="473659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DD7EE"/>
                </a:solidFill>
              </a:rPr>
              <a:t>CASI + ALS fusion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5230368"/>
            <a:ext cx="1828800" cy="7772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63640" y="526694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0.875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565099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DD7EE"/>
                </a:solidFill>
              </a:rPr>
              <a:t>Cross-sensor BK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83880" y="5230368"/>
            <a:ext cx="1828800" cy="7772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183880" y="526694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2317nm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83880" y="565099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DD7EE"/>
                </a:solidFill>
              </a:rPr>
              <a:t>Most separable band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104120" y="5230368"/>
            <a:ext cx="1828800" cy="7772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104120" y="526694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7/8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04120" y="565099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DD7EE"/>
                </a:solidFill>
              </a:rPr>
              <a:t>BK stands correct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817</TotalTime>
  <Words>1092</Words>
  <Application>Microsoft Office PowerPoint</Application>
  <PresentationFormat>Custom</PresentationFormat>
  <Paragraphs>208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Aggarwal Manan</cp:lastModifiedBy>
  <cp:revision>2</cp:revision>
  <dcterms:created xsi:type="dcterms:W3CDTF">2013-01-27T09:14:16Z</dcterms:created>
  <dcterms:modified xsi:type="dcterms:W3CDTF">2026-06-18T11:24:21Z</dcterms:modified>
  <cp:category/>
</cp:coreProperties>
</file>