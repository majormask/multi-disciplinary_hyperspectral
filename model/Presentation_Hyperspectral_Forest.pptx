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2C5F2D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Recovering Forest Location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Type from Airborne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Hyperspectral Spectra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Research Report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Manan Aggarwal  |  EIT Digital Masters  |  June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B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the FREEDLES Airborne Dataset (Rautiainen et al. 2024, ESSD)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1463040"/>
          </a:xfrm>
          <a:prstGeom prst="roundRect">
            <a:avLst>
              <a:gd name="adj" fmla="val 9375"/>
            </a:avLst>
          </a:prstGeom>
          <a:solidFill>
            <a:srgbClr val="D4E8C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32588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1B3A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forest location and forest type be recovered from airborne hyperspectral reflectance spectra alone?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749040" cy="1645920"/>
          </a:xfrm>
          <a:prstGeom prst="roundRect">
            <a:avLst>
              <a:gd name="adj" fmla="val 6667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31546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 Type Discrimination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spectra distinguish coniferous, broadleaved, and mixed forests across sites?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54880" y="3017520"/>
            <a:ext cx="3749040" cy="1645920"/>
          </a:xfrm>
          <a:prstGeom prst="roundRect">
            <a:avLst>
              <a:gd name="adj" fmla="val 6667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315468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Generalization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models trained on some biomes predict at unseen sites spanning boreal to temperate?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FREEDLES Dataset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European sites  |  58 forest stands  |  3 biome types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371600"/>
                <a:gridCol w="822960"/>
                <a:gridCol w="3108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Species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Hyytilä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 spruce, Scots pine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E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Järvselja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Hemiboreal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 broadleaved/coniferous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Lanzhot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 Rep.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Broadleaf floodplain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E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Bily Kriz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 Rep.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 spruce (mountain)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38328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D4E8C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3474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CASI-1500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0080" y="3886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382–1052 nm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4206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m pixels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74720" y="338328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474720" y="3474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SASI-600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474720" y="3886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958–2443 nm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474720" y="4206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 m pixels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338328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309360" y="34747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309360" y="3886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RIEGL LMS-Q780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309360" y="4206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 DEM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1600200" cy="2011680"/>
          </a:xfrm>
          <a:prstGeom prst="roundRect">
            <a:avLst>
              <a:gd name="adj" fmla="val 6857"/>
            </a:avLst>
          </a:prstGeom>
          <a:solidFill>
            <a:srgbClr val="D4E8C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128016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Load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182880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ENVI/GeoTIFF tiles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matching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874520" y="1828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057400" y="1188720"/>
            <a:ext cx="1600200" cy="2011680"/>
          </a:xfrm>
          <a:prstGeom prst="roundRect">
            <a:avLst>
              <a:gd name="adj" fmla="val 6857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57400" y="128016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Preprocess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148840" y="182880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 selection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0" y="1828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840480" y="1188720"/>
            <a:ext cx="1600200" cy="2011680"/>
          </a:xfrm>
          <a:prstGeom prst="roundRect">
            <a:avLst>
              <a:gd name="adj" fmla="val 6857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840480" y="128016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Features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31920" y="182880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means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Indices / PCA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40680" y="1828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623560" y="1188720"/>
            <a:ext cx="1600200" cy="2011680"/>
          </a:xfrm>
          <a:prstGeom prst="roundRect">
            <a:avLst>
              <a:gd name="adj" fmla="val 6857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23560" y="128016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Classify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715000" y="182880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ML models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CNN options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23760" y="1828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406640" y="1188720"/>
            <a:ext cx="1600200" cy="2011680"/>
          </a:xfrm>
          <a:prstGeom prst="roundRect">
            <a:avLst>
              <a:gd name="adj" fmla="val 6857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06640" y="1280160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Evaluate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0" y="1828800"/>
            <a:ext cx="14173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LOSO/LOGO CV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Shortcut checks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3474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Suite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393192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9319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PLS-DA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286000" y="393192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0" y="39319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931920" y="393192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/>
        </p:spPr>
      </p:sp>
      <p:sp>
        <p:nvSpPr>
          <p:cNvPr id="28" name="Text 26"/>
          <p:cNvSpPr/>
          <p:nvPr/>
        </p:nvSpPr>
        <p:spPr>
          <a:xfrm>
            <a:off x="3931920" y="39319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577840" y="393192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/>
        </p:spPr>
      </p:sp>
      <p:sp>
        <p:nvSpPr>
          <p:cNvPr id="30" name="Text 28"/>
          <p:cNvSpPr/>
          <p:nvPr/>
        </p:nvSpPr>
        <p:spPr>
          <a:xfrm>
            <a:off x="5577840" y="39319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23760" y="3931920"/>
            <a:ext cx="1463040" cy="548640"/>
          </a:xfrm>
          <a:prstGeom prst="roundRect">
            <a:avLst>
              <a:gd name="adj" fmla="val 16667"/>
            </a:avLst>
          </a:prstGeom>
          <a:solidFill>
            <a:srgbClr val="2C5F2D"/>
          </a:solidFill>
          <a:ln/>
        </p:spPr>
      </p:sp>
      <p:sp>
        <p:nvSpPr>
          <p:cNvPr id="32" name="Text 30"/>
          <p:cNvSpPr/>
          <p:nvPr/>
        </p:nvSpPr>
        <p:spPr>
          <a:xfrm>
            <a:off x="7223760" y="393192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Design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spatial data leakage (Roberts et al. 2017; Ploton et al. 2020)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3749040" cy="2377440"/>
          </a:xfrm>
          <a:prstGeom prst="roundRect">
            <a:avLst>
              <a:gd name="adj" fmla="val 4615"/>
            </a:avLst>
          </a:prstGeom>
          <a:solidFill>
            <a:srgbClr val="D4E8C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463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Multi-Site: Leave-One-Site-Out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folds (one site held out per fold)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cross-biome generalization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site-level spectral leakage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variance with only 4 folds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371600"/>
            <a:ext cx="3749040" cy="2377440"/>
          </a:xfrm>
          <a:prstGeom prst="roundRect">
            <a:avLst>
              <a:gd name="adj" fmla="val 4615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63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Single-Site: Leave-One-Stand-Out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0" y="1965960"/>
            <a:ext cx="3200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folds (Hyytilä only)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pixels from a stand in same fold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Strictest within-site validation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Proof-of-concept for pipeline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931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Safeguards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4297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Normalization/PCA fit on training fold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test (100 shuffles) for significance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Feature-target correlation audit for leakage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Per-fold reporting with shortcut pattern flags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Scope: Hyytilä Only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2344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 stands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651760" y="118872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651760" y="12344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651760" y="19659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Spectral bands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(after filtering)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2344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0.5m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846320" y="19659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resolution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(CASI)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40880" y="118872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0F4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40880" y="12344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7040880" y="19659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 storage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333756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accuracy for coniferous majority class (BA &gt; 0.7)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minority-class performance (broadleaved, mixed)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fold-to-fold variance (28 LOO folds, n=1 per test)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VIS-NIR range captures chlorophyll, red edge, NIR plateau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749040" cy="1463040"/>
          </a:xfrm>
          <a:prstGeom prst="roundRect">
            <a:avLst>
              <a:gd name="adj" fmla="val 7500"/>
            </a:avLst>
          </a:prstGeom>
          <a:solidFill>
            <a:srgbClr val="FFF4F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3258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Single-site only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17373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generalization untested. All stands share climate, soil, calibration.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749040" cy="1463040"/>
          </a:xfrm>
          <a:prstGeom prst="roundRect">
            <a:avLst>
              <a:gd name="adj" fmla="val 7500"/>
            </a:avLst>
          </a:prstGeom>
          <a:solidFill>
            <a:srgbClr val="FFF4F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83480" y="13258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Type-species confound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983480" y="17373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 type at Hyytilä is nearly synonymous with dominant species identity.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017520"/>
            <a:ext cx="3749040" cy="1463040"/>
          </a:xfrm>
          <a:prstGeom prst="roundRect">
            <a:avLst>
              <a:gd name="adj" fmla="val 7500"/>
            </a:avLst>
          </a:prstGeom>
          <a:solidFill>
            <a:srgbClr val="FFF4F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3154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35661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stands is minimal for supervised learning. LOO-CV yields high-variance estimates.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3017520"/>
            <a:ext cx="3749040" cy="1463040"/>
          </a:xfrm>
          <a:prstGeom prst="roundRect">
            <a:avLst>
              <a:gd name="adj" fmla="val 7500"/>
            </a:avLst>
          </a:prstGeom>
          <a:solidFill>
            <a:srgbClr val="FFF4F0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83480" y="3154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9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Type-site confound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983480" y="35661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Boreal = coniferous, temperate = broadleaved. Cannot disentangle with one site.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 Hyytilä data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371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code repo to Windows laptop, create metadata CSV, run baseline experiment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Populate results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2148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report with actual metrics, confusion matrices, spectral plots, band importance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2651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29260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reduction, spectral indices, normalization ablation, ALS fusion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429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to multi-site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7033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additional sites if storage allows; run LOSO-CV for cross-biome generalization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425196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716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report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71600" y="44805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discussion with real results, significance tests, literature comparison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3A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2C5F2D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Manan Aggarwal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mananaggarwal457@gmail.com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 Digital Masters — Semester 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B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Rautiainen et al. (2024), ESSD 16, 5069–5098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Airborne Hyperspectral Forest Classification</dc:title>
  <dc:subject>PptxGenJS Presentation</dc:subject>
  <dc:creator>Manan Aggarwal</dc:creator>
  <cp:lastModifiedBy>Manan Aggarwal</cp:lastModifiedBy>
  <cp:revision>1</cp:revision>
  <dcterms:created xsi:type="dcterms:W3CDTF">2026-06-15T21:48:49Z</dcterms:created>
  <dcterms:modified xsi:type="dcterms:W3CDTF">2026-06-15T21:48:49Z</dcterms:modified>
</cp:coreProperties>
</file>